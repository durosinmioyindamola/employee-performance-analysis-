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8DA8534-5B87-42F5-9DFA-A2D8110ED6C9}">
          <p14:sldIdLst>
            <p14:sldId id="256"/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osinmi Kabirat Oyindamola" initials="DKO" lastIdx="1" clrIdx="0">
    <p:extLst>
      <p:ext uri="{19B8F6BF-5375-455C-9EA6-DF929625EA0E}">
        <p15:presenceInfo xmlns:p15="http://schemas.microsoft.com/office/powerpoint/2012/main" userId="a362ad3d67d118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Employees%20Performance%20For%20HR%20Analy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Employees%20Performance%20For%20HR%20Analy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Employees%20Performance%20For%20HR%20Analytic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Employees%20Performance%20For%20HR%20Analy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Employees%20Performance%20For%20HR%20Analytic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Employees%20Performance%20For%20HR%20Analytic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[Employees Performance For HR Analytics.xlsx]Analysis!PivotTable7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Analysis!$B$26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44FE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Analysis!$A$27:$A$30</c:f>
              <c:strCache>
                <c:ptCount val="3"/>
                <c:pt idx="0">
                  <c:v>Other</c:v>
                </c:pt>
                <c:pt idx="1">
                  <c:v>Referred</c:v>
                </c:pt>
                <c:pt idx="2">
                  <c:v>Sourcing</c:v>
                </c:pt>
              </c:strCache>
            </c:strRef>
          </c:cat>
          <c:val>
            <c:numRef>
              <c:f>Analysis!$B$27:$B$30</c:f>
              <c:numCache>
                <c:formatCode>0.00</c:formatCode>
                <c:ptCount val="3"/>
                <c:pt idx="0">
                  <c:v>3.3015693917324853</c:v>
                </c:pt>
                <c:pt idx="1">
                  <c:v>3.8892405063291138</c:v>
                </c:pt>
                <c:pt idx="2">
                  <c:v>3.3166417199618996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E6-4E06-831A-3FCB89F975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969087"/>
        <c:axId val="48961599"/>
      </c:barChart>
      <c:catAx>
        <c:axId val="4896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61599"/>
        <c:crosses val="autoZero"/>
        <c:auto val="1"/>
        <c:lblAlgn val="ctr"/>
        <c:lblOffset val="100"/>
        <c:noMultiLvlLbl val="0"/>
      </c:catAx>
      <c:valAx>
        <c:axId val="48961599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4896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EDFE7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475256902114542E-2"/>
          <c:y val="0.15445292711239447"/>
          <c:w val="0.89633519774754911"/>
          <c:h val="0.77338283233500682"/>
        </c:manualLayout>
      </c:layout>
      <c:scatterChart>
        <c:scatterStyle val="lineMarker"/>
        <c:varyColors val="0"/>
        <c:ser>
          <c:idx val="0"/>
          <c:order val="0"/>
          <c:tx>
            <c:strRef>
              <c:f>Analysis!$G$25</c:f>
              <c:strCache>
                <c:ptCount val="1"/>
                <c:pt idx="0">
                  <c:v>Average of Previous_year_rating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Analysis!$F$26:$F$59</c:f>
              <c:numCache>
                <c:formatCode>General</c:formatCode>
                <c:ptCount val="3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</c:numCache>
            </c:numRef>
          </c:xVal>
          <c:yVal>
            <c:numRef>
              <c:f>Analysis!$G$26:$G$59</c:f>
              <c:numCache>
                <c:formatCode>0.0</c:formatCode>
                <c:ptCount val="34"/>
                <c:pt idx="0">
                  <c:v>3.0253671562082776</c:v>
                </c:pt>
                <c:pt idx="1">
                  <c:v>3.3285577841451768</c:v>
                </c:pt>
                <c:pt idx="2">
                  <c:v>3.3308136949755447</c:v>
                </c:pt>
                <c:pt idx="3">
                  <c:v>3.3364183248496069</c:v>
                </c:pt>
                <c:pt idx="4">
                  <c:v>3.325496342737722</c:v>
                </c:pt>
                <c:pt idx="5">
                  <c:v>3.358049432197729</c:v>
                </c:pt>
                <c:pt idx="6">
                  <c:v>3.3570219966159054</c:v>
                </c:pt>
                <c:pt idx="7">
                  <c:v>3.371918542336549</c:v>
                </c:pt>
                <c:pt idx="8">
                  <c:v>3.3942428035043806</c:v>
                </c:pt>
                <c:pt idx="9">
                  <c:v>3.3256814921090387</c:v>
                </c:pt>
                <c:pt idx="10">
                  <c:v>3.3940520446096656</c:v>
                </c:pt>
                <c:pt idx="11">
                  <c:v>3.5313807531380754</c:v>
                </c:pt>
                <c:pt idx="12">
                  <c:v>3.5144230769230771</c:v>
                </c:pt>
                <c:pt idx="13">
                  <c:v>3.1223404255319149</c:v>
                </c:pt>
                <c:pt idx="14">
                  <c:v>3.2628571428571429</c:v>
                </c:pt>
                <c:pt idx="15">
                  <c:v>3.4166666666666665</c:v>
                </c:pt>
                <c:pt idx="16">
                  <c:v>3.4589041095890409</c:v>
                </c:pt>
                <c:pt idx="17">
                  <c:v>3.3076923076923075</c:v>
                </c:pt>
                <c:pt idx="18">
                  <c:v>3.2083333333333335</c:v>
                </c:pt>
                <c:pt idx="19">
                  <c:v>3.4186046511627906</c:v>
                </c:pt>
                <c:pt idx="20">
                  <c:v>3.7826086956521738</c:v>
                </c:pt>
                <c:pt idx="21">
                  <c:v>3.7647058823529411</c:v>
                </c:pt>
                <c:pt idx="22">
                  <c:v>2.7272727272727271</c:v>
                </c:pt>
                <c:pt idx="23">
                  <c:v>3.6428571428571428</c:v>
                </c:pt>
                <c:pt idx="24">
                  <c:v>2.6923076923076925</c:v>
                </c:pt>
                <c:pt idx="25">
                  <c:v>3.3</c:v>
                </c:pt>
                <c:pt idx="26">
                  <c:v>3</c:v>
                </c:pt>
                <c:pt idx="27">
                  <c:v>3.2222222222222223</c:v>
                </c:pt>
                <c:pt idx="28">
                  <c:v>3.1111111111111112</c:v>
                </c:pt>
                <c:pt idx="29">
                  <c:v>4.4000000000000004</c:v>
                </c:pt>
                <c:pt idx="30">
                  <c:v>3.6666666666666665</c:v>
                </c:pt>
                <c:pt idx="31">
                  <c:v>4</c:v>
                </c:pt>
                <c:pt idx="32">
                  <c:v>3</c:v>
                </c:pt>
                <c:pt idx="33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04-4DEF-BDAD-723A84572C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1621104"/>
        <c:axId val="591607792"/>
      </c:scatterChart>
      <c:valAx>
        <c:axId val="591621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607792"/>
        <c:crosses val="autoZero"/>
        <c:crossBetween val="midCat"/>
      </c:valAx>
      <c:valAx>
        <c:axId val="591607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6211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[Employees Performance For HR Analytics.xlsx]Analysis!PivotTable4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844FEA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844FEA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844FEA"/>
          </a:solidFill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Analysis!$B$11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44FE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Analysis!$A$12:$A$21</c:f>
              <c:strCache>
                <c:ptCount val="9"/>
                <c:pt idx="0">
                  <c:v>Sales &amp; Marketing</c:v>
                </c:pt>
                <c:pt idx="1">
                  <c:v>Technology</c:v>
                </c:pt>
                <c:pt idx="2">
                  <c:v>Procurement</c:v>
                </c:pt>
                <c:pt idx="3">
                  <c:v>Legal</c:v>
                </c:pt>
                <c:pt idx="4">
                  <c:v>Analytics</c:v>
                </c:pt>
                <c:pt idx="5">
                  <c:v>Finance</c:v>
                </c:pt>
                <c:pt idx="6">
                  <c:v>HR</c:v>
                </c:pt>
                <c:pt idx="7">
                  <c:v>Operations</c:v>
                </c:pt>
                <c:pt idx="8">
                  <c:v>R&amp;D</c:v>
                </c:pt>
              </c:strCache>
            </c:strRef>
          </c:cat>
          <c:val>
            <c:numRef>
              <c:f>Analysis!$B$12:$B$21</c:f>
              <c:numCache>
                <c:formatCode>0.00</c:formatCode>
                <c:ptCount val="9"/>
                <c:pt idx="0">
                  <c:v>3.0961890802491756</c:v>
                </c:pt>
                <c:pt idx="1">
                  <c:v>3.1437016825829924</c:v>
                </c:pt>
                <c:pt idx="2">
                  <c:v>3.234375</c:v>
                </c:pt>
                <c:pt idx="3">
                  <c:v>3.3825301204819276</c:v>
                </c:pt>
                <c:pt idx="4">
                  <c:v>3.4684737772539775</c:v>
                </c:pt>
                <c:pt idx="5">
                  <c:v>3.4875311720698257</c:v>
                </c:pt>
                <c:pt idx="6">
                  <c:v>3.5120481927710845</c:v>
                </c:pt>
                <c:pt idx="7">
                  <c:v>3.6313847900113507</c:v>
                </c:pt>
                <c:pt idx="8">
                  <c:v>3.6596385542168677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BD-4487-9642-EE5E7466ED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36966527"/>
        <c:axId val="236969855"/>
      </c:barChart>
      <c:catAx>
        <c:axId val="236966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236969855"/>
        <c:crosses val="autoZero"/>
        <c:auto val="0"/>
        <c:lblAlgn val="ctr"/>
        <c:lblOffset val="100"/>
        <c:noMultiLvlLbl val="0"/>
      </c:catAx>
      <c:valAx>
        <c:axId val="236969855"/>
        <c:scaling>
          <c:orientation val="minMax"/>
        </c:scaling>
        <c:delete val="1"/>
        <c:axPos val="t"/>
        <c:numFmt formatCode="0.00" sourceLinked="1"/>
        <c:majorTickMark val="none"/>
        <c:minorTickMark val="none"/>
        <c:tickLblPos val="nextTo"/>
        <c:crossAx val="236966527"/>
        <c:crosses val="max"/>
        <c:crossBetween val="midCat"/>
      </c:valAx>
      <c:spPr>
        <a:solidFill>
          <a:schemeClr val="bg1">
            <a:lumMod val="95000"/>
          </a:schemeClr>
        </a:solidFill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95000"/>
      </a:schemeClr>
    </a:solidFill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[Employees Performance For HR Analytics.xlsx]Analysis!PivotTable3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844FEA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Analysis!$G$3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44FE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Analysis!$F$4:$F$8</c:f>
              <c:strCache>
                <c:ptCount val="4"/>
                <c:pt idx="0">
                  <c:v>High School</c:v>
                </c:pt>
                <c:pt idx="1">
                  <c:v>Diploma</c:v>
                </c:pt>
                <c:pt idx="2">
                  <c:v>Masters &amp; Above</c:v>
                </c:pt>
                <c:pt idx="3">
                  <c:v>Bachelors</c:v>
                </c:pt>
              </c:strCache>
            </c:strRef>
          </c:cat>
          <c:val>
            <c:numRef>
              <c:f>Analysis!$G$4:$G$8</c:f>
              <c:numCache>
                <c:formatCode>0</c:formatCode>
                <c:ptCount val="4"/>
                <c:pt idx="0">
                  <c:v>286</c:v>
                </c:pt>
                <c:pt idx="1">
                  <c:v>771</c:v>
                </c:pt>
                <c:pt idx="2">
                  <c:v>4841</c:v>
                </c:pt>
                <c:pt idx="3">
                  <c:v>11516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A-44FF-A156-292E63A430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81076799"/>
        <c:axId val="2081073055"/>
      </c:barChart>
      <c:catAx>
        <c:axId val="208107679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1073055"/>
        <c:crosses val="autoZero"/>
        <c:auto val="1"/>
        <c:lblAlgn val="ctr"/>
        <c:lblOffset val="100"/>
        <c:noMultiLvlLbl val="0"/>
      </c:catAx>
      <c:valAx>
        <c:axId val="2081073055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2081076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EDFE7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[Employees Performance For HR Analytics.xlsx]Analysis!PivotTable5</c:name>
    <c:fmtId val="1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rgbClr val="844FEA"/>
          </a:solidFill>
          <a:ln w="19050">
            <a:noFill/>
          </a:ln>
          <a:effectLst/>
        </c:spPr>
        <c:dLbl>
          <c:idx val="0"/>
          <c:layout>
            <c:manualLayout>
              <c:x val="5.8881092338534446E-2"/>
              <c:y val="-0.1050415824059485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DEDFE7"/>
          </a:solidFill>
          <a:ln w="19050">
            <a:noFill/>
          </a:ln>
          <a:effectLst/>
        </c:spPr>
        <c:dLbl>
          <c:idx val="0"/>
          <c:layout>
            <c:manualLayout>
              <c:x val="-0.10206056005345972"/>
              <c:y val="4.5955692302602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AF9BE6"/>
          </a:solidFill>
          <a:ln w="19050">
            <a:noFill/>
          </a:ln>
          <a:effectLst/>
        </c:spPr>
        <c:dLbl>
          <c:idx val="0"/>
          <c:layout>
            <c:manualLayout>
              <c:x val="-4.7104873870827568E-2"/>
              <c:y val="-0.1181717802066920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6613682880751433"/>
          <c:y val="0.11994431359624443"/>
          <c:w val="0.421767273487065"/>
          <c:h val="0.70539041144043435"/>
        </c:manualLayout>
      </c:layout>
      <c:doughnutChart>
        <c:varyColors val="1"/>
        <c:ser>
          <c:idx val="0"/>
          <c:order val="0"/>
          <c:tx>
            <c:strRef>
              <c:f>Analysis!$E$12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844FE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04-47F5-98F1-5155F99DC98F}"/>
              </c:ext>
            </c:extLst>
          </c:dPt>
          <c:dPt>
            <c:idx val="1"/>
            <c:bubble3D val="0"/>
            <c:spPr>
              <a:solidFill>
                <a:srgbClr val="DEDFE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604-47F5-98F1-5155F99DC98F}"/>
              </c:ext>
            </c:extLst>
          </c:dPt>
          <c:dPt>
            <c:idx val="2"/>
            <c:bubble3D val="0"/>
            <c:spPr>
              <a:solidFill>
                <a:srgbClr val="AF9BE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604-47F5-98F1-5155F99DC98F}"/>
              </c:ext>
            </c:extLst>
          </c:dPt>
          <c:dLbls>
            <c:dLbl>
              <c:idx val="0"/>
              <c:layout>
                <c:manualLayout>
                  <c:x val="5.8881092338534446E-2"/>
                  <c:y val="-0.1050415824059485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04-47F5-98F1-5155F99DC98F}"/>
                </c:ext>
              </c:extLst>
            </c:dLbl>
            <c:dLbl>
              <c:idx val="1"/>
              <c:layout>
                <c:manualLayout>
                  <c:x val="-0.10206056005345972"/>
                  <c:y val="4.5955692302602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04-47F5-98F1-5155F99DC98F}"/>
                </c:ext>
              </c:extLst>
            </c:dLbl>
            <c:dLbl>
              <c:idx val="2"/>
              <c:layout>
                <c:manualLayout>
                  <c:x val="-4.7104873870827568E-2"/>
                  <c:y val="-0.118171780206692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04-47F5-98F1-5155F99DC9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Analysis!$D$13:$D$16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Analysis!$E$13:$E$16</c:f>
              <c:numCache>
                <c:formatCode>0.00</c:formatCode>
                <c:ptCount val="3"/>
                <c:pt idx="0">
                  <c:v>63.846153846153847</c:v>
                </c:pt>
                <c:pt idx="1">
                  <c:v>63.140716768548486</c:v>
                </c:pt>
                <c:pt idx="2">
                  <c:v>64.007122507122503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04-47F5-98F1-5155F99DC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2"/>
      </c:doughnutChart>
    </c:plotArea>
    <c:legend>
      <c:legendPos val="b"/>
      <c:layout>
        <c:manualLayout>
          <c:xMode val="edge"/>
          <c:yMode val="edge"/>
          <c:x val="0.17336702509916627"/>
          <c:y val="0.87534464879985852"/>
          <c:w val="0.58463598408377337"/>
          <c:h val="0.107283702052123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2">
        <a:lumMod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[Employees Performance For HR Analytics.xlsx]Analysis!PivotTable6</c:name>
    <c:fmtId val="14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noFill/>
            <a:round/>
          </a:ln>
          <a:effectLst/>
        </c:spPr>
        <c:marker>
          <c:symbol val="circle"/>
          <c:size val="12"/>
          <c:spPr>
            <a:solidFill>
              <a:srgbClr val="844FE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noFill/>
            <a:round/>
          </a:ln>
          <a:effectLst/>
        </c:spPr>
        <c:marker>
          <c:symbol val="circle"/>
          <c:size val="12"/>
          <c:spPr>
            <a:solidFill>
              <a:srgbClr val="844FE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noFill/>
            <a:round/>
          </a:ln>
          <a:effectLst/>
        </c:spPr>
        <c:marker>
          <c:symbol val="circle"/>
          <c:size val="12"/>
          <c:spPr>
            <a:solidFill>
              <a:srgbClr val="844FE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noFill/>
            <a:round/>
          </a:ln>
          <a:effectLst/>
        </c:spPr>
        <c:marker>
          <c:symbol val="circle"/>
          <c:size val="12"/>
          <c:spPr>
            <a:solidFill>
              <a:srgbClr val="844FE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noFill/>
            <a:round/>
          </a:ln>
          <a:effectLst/>
        </c:spPr>
        <c:marker>
          <c:symbol val="circle"/>
          <c:size val="12"/>
          <c:spPr>
            <a:solidFill>
              <a:srgbClr val="844FEA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920675379495089E-2"/>
          <c:y val="6.2616071589274708E-2"/>
          <c:w val="0.98079325858499755"/>
          <c:h val="0.78483702117145793"/>
        </c:manualLayout>
      </c:layout>
      <c:lineChart>
        <c:grouping val="standard"/>
        <c:varyColors val="0"/>
        <c:ser>
          <c:idx val="0"/>
          <c:order val="0"/>
          <c:tx>
            <c:strRef>
              <c:f>Analysis!$H$12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rgbClr val="844FEA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Analysis!$G$13:$G$18</c:f>
              <c:strCache>
                <c:ptCount val="5"/>
                <c:pt idx="0">
                  <c:v>Average</c:v>
                </c:pt>
                <c:pt idx="1">
                  <c:v>Below Average</c:v>
                </c:pt>
                <c:pt idx="2">
                  <c:v>Excellent</c:v>
                </c:pt>
                <c:pt idx="3">
                  <c:v>Good</c:v>
                </c:pt>
                <c:pt idx="4">
                  <c:v>Poor</c:v>
                </c:pt>
              </c:strCache>
            </c:strRef>
          </c:cat>
          <c:val>
            <c:numRef>
              <c:f>Analysis!$H$13:$H$18</c:f>
              <c:numCache>
                <c:formatCode>0.00%</c:formatCode>
                <c:ptCount val="5"/>
                <c:pt idx="0">
                  <c:v>0.41208223268634431</c:v>
                </c:pt>
                <c:pt idx="1">
                  <c:v>7.4193177902836804E-2</c:v>
                </c:pt>
                <c:pt idx="2">
                  <c:v>0.2191340300907316</c:v>
                </c:pt>
                <c:pt idx="3">
                  <c:v>0.18123349029516481</c:v>
                </c:pt>
                <c:pt idx="4">
                  <c:v>0.11335706902492247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D2-4EF9-8BF6-9941F3529AE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53975">
              <a:solidFill>
                <a:srgbClr val="AF9BE6"/>
              </a:solidFill>
              <a:prstDash val="solid"/>
            </a:ln>
            <a:effectLst/>
          </c:spPr>
        </c:dropLines>
        <c:marker val="1"/>
        <c:smooth val="0"/>
        <c:axId val="139778431"/>
        <c:axId val="139780511"/>
      </c:lineChart>
      <c:catAx>
        <c:axId val="139778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780511"/>
        <c:crosses val="autoZero"/>
        <c:auto val="1"/>
        <c:lblAlgn val="ctr"/>
        <c:lblOffset val="100"/>
        <c:noMultiLvlLbl val="0"/>
      </c:catAx>
      <c:valAx>
        <c:axId val="13978051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39778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2">
        <a:lumMod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2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8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66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8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1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6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9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0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3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0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14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592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7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383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172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445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76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FC92A4-5366-451D-AF9B-6FF46C5F2F1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89F5EC-2167-4BD3-9EF9-EB3649C88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7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092B-AC0D-4A36-8803-6DB181BD0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Performance Analysis Report</a:t>
            </a:r>
          </a:p>
        </p:txBody>
      </p:sp>
    </p:spTree>
    <p:extLst>
      <p:ext uri="{BB962C8B-B14F-4D97-AF65-F5344CB8AC3E}">
        <p14:creationId xmlns:p14="http://schemas.microsoft.com/office/powerpoint/2010/main" val="18921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FF0BC-F432-4032-86C9-A01D3F9679F3}"/>
              </a:ext>
            </a:extLst>
          </p:cNvPr>
          <p:cNvSpPr txBox="1"/>
          <p:nvPr/>
        </p:nvSpPr>
        <p:spPr>
          <a:xfrm>
            <a:off x="971550" y="700385"/>
            <a:ext cx="9239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report provides key insights into employee performance, workforce structure, and development effectiveness to support HR strategy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70308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F61C-1999-4F85-8D8C-900515DB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Workforce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A42A-46F1-4A18-A9D2-A97A8CD29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2375451"/>
            <a:ext cx="10515600" cy="33443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organization consists of 17,414 employees with an average performance rating of 3.32. Currently, 35.88% of employees meet the performance standard (KPI achievers). Average training score stands at 63, while only 2.34% of employees have received performance-related awards, suggesting recognition programs may be limited.</a:t>
            </a:r>
          </a:p>
        </p:txBody>
      </p:sp>
    </p:spTree>
    <p:extLst>
      <p:ext uri="{BB962C8B-B14F-4D97-AF65-F5344CB8AC3E}">
        <p14:creationId xmlns:p14="http://schemas.microsoft.com/office/powerpoint/2010/main" val="155531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109D-14EE-40E9-AB3A-D0E52C3D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10439400" cy="620714"/>
          </a:xfrm>
        </p:spPr>
        <p:txBody>
          <a:bodyPr>
            <a:normAutofit fontScale="90000"/>
          </a:bodyPr>
          <a:lstStyle/>
          <a:p>
            <a:r>
              <a:rPr lang="en-US" dirty="0"/>
              <a:t>1. Recruitment Channel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C515F-CE5D-4756-A8FC-3DC016AE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049"/>
            <a:ext cx="10515600" cy="5280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Insight: Employees hired through referral channels have the highest average performance (3.89) compared to sourcing and other hiring methods.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Recommendation: Expand referral incentives and prioritize referral-based recruitment to improve talent quality.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AC2BA8-2F4E-46CE-8099-DB3C57102B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943462"/>
              </p:ext>
            </p:extLst>
          </p:nvPr>
        </p:nvGraphicFramePr>
        <p:xfrm>
          <a:off x="3381375" y="2474843"/>
          <a:ext cx="3894067" cy="2335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146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089D-22D7-4A50-8525-44709BBE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US" dirty="0"/>
              <a:t>2. Impact of Experience 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04C5-FBCC-44B0-B203-186E26F33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375"/>
            <a:ext cx="10515600" cy="52768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Insight: Performance ratings increase gradually with years of service, indicating that employees perform better as they gain more experience in the organization.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Recommendation: Implement strong onboarding and mentorship support during early tenure to accelerate performance growth.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39966BA-297F-477E-9B64-A3CFE9452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1974927"/>
              </p:ext>
            </p:extLst>
          </p:nvPr>
        </p:nvGraphicFramePr>
        <p:xfrm>
          <a:off x="3190875" y="2524125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411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ED73-37D4-4849-AD2D-CDB0D5CB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/>
          <a:lstStyle/>
          <a:p>
            <a:r>
              <a:rPr lang="en-US" dirty="0"/>
              <a:t>3. Department-Level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99406-F13A-4885-AE85-E99EA9EC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78"/>
            <a:ext cx="10515600" cy="558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400" dirty="0"/>
              <a:t>Insight: Performance varies across departments. R&amp;D and Operations lead in overall performance ratings, while departments such as Sales &amp; Marketing and Technology show comparatively lower performance scores.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Recommendation: Provide targeted training, team coaching, and leadership development support for lower-performing departments to close performance gaps.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05FA03E-4C73-4637-AF5B-7053A33E1E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8110297"/>
              </p:ext>
            </p:extLst>
          </p:nvPr>
        </p:nvGraphicFramePr>
        <p:xfrm>
          <a:off x="2819401" y="2562225"/>
          <a:ext cx="4781549" cy="260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010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E1AA-C0C0-433E-8356-7129D683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997"/>
          </a:xfrm>
        </p:spPr>
        <p:txBody>
          <a:bodyPr/>
          <a:lstStyle/>
          <a:p>
            <a:r>
              <a:rPr lang="en-US" dirty="0"/>
              <a:t>4. Workforce Education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278F-E790-4A48-8BE2-57EB8FF52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083365"/>
            <a:ext cx="10515600" cy="46781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 Insight: Most employees hold Bachelor’s and Master’s degrees, indicating a highly educated talent pool. This reflects strong hiring standards and workforce capability, which aligns with professional role requirements.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DDF55B8-1E75-4414-9AE6-C18452FE49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558085"/>
              </p:ext>
            </p:extLst>
          </p:nvPr>
        </p:nvGraphicFramePr>
        <p:xfrm>
          <a:off x="4185406" y="2609850"/>
          <a:ext cx="382118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433939-3026-466B-A501-27DA060D9B06}"/>
              </a:ext>
            </a:extLst>
          </p:cNvPr>
          <p:cNvSpPr txBox="1"/>
          <p:nvPr/>
        </p:nvSpPr>
        <p:spPr>
          <a:xfrm>
            <a:off x="761999" y="5480903"/>
            <a:ext cx="9877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Recommendation: Continue attracting highly skilled talent while also designing growth pathways for employees with lower qualification levels.</a:t>
            </a:r>
          </a:p>
        </p:txBody>
      </p:sp>
    </p:spTree>
    <p:extLst>
      <p:ext uri="{BB962C8B-B14F-4D97-AF65-F5344CB8AC3E}">
        <p14:creationId xmlns:p14="http://schemas.microsoft.com/office/powerpoint/2010/main" val="120591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8A91-0C00-48AF-A1A2-954BD291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400"/>
          </a:xfrm>
        </p:spPr>
        <p:txBody>
          <a:bodyPr/>
          <a:lstStyle/>
          <a:p>
            <a:r>
              <a:rPr lang="en-US" dirty="0"/>
              <a:t>5. Training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8800E-DAA3-48A2-83DA-EAA2A9FAE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526"/>
            <a:ext cx="10515600" cy="55244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Insight: Average training scores show minimal difference across high, medium, and low performers, suggesting that current training programs do not significantly influence performance outcomes.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Recommendation: Redesign training programs to be skill-specific, role-tailored, and outcome-based, rather than general training.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FE4D91-2F6A-410D-9288-39F05C768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0255701"/>
              </p:ext>
            </p:extLst>
          </p:nvPr>
        </p:nvGraphicFramePr>
        <p:xfrm>
          <a:off x="4065534" y="2466078"/>
          <a:ext cx="3460045" cy="2455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371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B1B3-8CB9-4ACB-9627-E86767BA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A63A4-57EC-468D-8B55-CED00222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753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Insight: About 40.04% of employees(Excellent and Good) are performing well, while 59.96% requires additional support to reach performance expectations.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Recommendation: Implement personalized performance development plans and coaching for below-target employees. Introduce regular performance feedback cycles.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B586376-83FC-47A4-BD76-DAAD8C1C30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041058"/>
              </p:ext>
            </p:extLst>
          </p:nvPr>
        </p:nvGraphicFramePr>
        <p:xfrm>
          <a:off x="3786187" y="2435087"/>
          <a:ext cx="4619625" cy="2444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239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1DAC-58F7-4141-87C3-8CCC6700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F8087-FF30-4BB4-B685-93C1B6AE2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30"/>
            <a:ext cx="10515600" cy="524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organization benefits from a highly educated and experienced workforce, and referral hiring has proven effective in attracting strong talent. However, performance improvement opportunities exist in:</a:t>
            </a:r>
          </a:p>
          <a:p>
            <a:r>
              <a:rPr lang="en-US" dirty="0"/>
              <a:t>Strengthening early-career support </a:t>
            </a:r>
          </a:p>
          <a:p>
            <a:r>
              <a:rPr lang="en-US" dirty="0"/>
              <a:t>Redesigning training programs for better impact </a:t>
            </a:r>
          </a:p>
          <a:p>
            <a:r>
              <a:rPr lang="en-US" dirty="0"/>
              <a:t>Enhancing recognition and performance accountability</a:t>
            </a:r>
          </a:p>
          <a:p>
            <a:r>
              <a:rPr lang="en-US" dirty="0"/>
              <a:t>Providing targeted support to lower-performing departments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By acting on these recommendations, the organization can improve employee performance, increase engagement, and enhance workforce productivity</a:t>
            </a:r>
          </a:p>
        </p:txBody>
      </p:sp>
    </p:spTree>
    <p:extLst>
      <p:ext uri="{BB962C8B-B14F-4D97-AF65-F5344CB8AC3E}">
        <p14:creationId xmlns:p14="http://schemas.microsoft.com/office/powerpoint/2010/main" val="2440593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475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Employee Performance Analysis Report</vt:lpstr>
      <vt:lpstr>PowerPoint Presentation</vt:lpstr>
      <vt:lpstr>Overall Workforce Overview</vt:lpstr>
      <vt:lpstr>1. Recruitment Channel Performance</vt:lpstr>
      <vt:lpstr>2. Impact of Experience on Performance</vt:lpstr>
      <vt:lpstr>3. Department-Level Performance</vt:lpstr>
      <vt:lpstr>4. Workforce Education Composition</vt:lpstr>
      <vt:lpstr>5. Training Effectiveness</vt:lpstr>
      <vt:lpstr>Performance Distribution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Performance Analysis Report</dc:title>
  <dc:creator>Durosinmi Kabirat Oyindamola</dc:creator>
  <cp:lastModifiedBy>Durosinmi Kabirat Oyindamola</cp:lastModifiedBy>
  <cp:revision>9</cp:revision>
  <dcterms:created xsi:type="dcterms:W3CDTF">2025-11-09T05:12:35Z</dcterms:created>
  <dcterms:modified xsi:type="dcterms:W3CDTF">2025-11-09T06:28:49Z</dcterms:modified>
</cp:coreProperties>
</file>